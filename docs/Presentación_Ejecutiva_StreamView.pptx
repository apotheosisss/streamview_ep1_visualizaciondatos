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09F3E"/>
            </a:solidFill>
            <a:ln w="38100" cap="flat">
              <a:solidFill>
                <a:srgbClr val="E09F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F3E"/>
              </a:solidFill>
              <a:ln w="9525" cap="flat">
                <a:solidFill>
                  <a:srgbClr val="E09F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85.9</c:v>
                </c:pt>
                <c:pt idx="2">
                  <c:v>94.8</c:v>
                </c:pt>
                <c:pt idx="3">
                  <c:v>97.8</c:v>
                </c:pt>
                <c:pt idx="4">
                  <c:v>99</c:v>
                </c:pt>
                <c:pt idx="5">
                  <c:v>99.5</c:v>
                </c:pt>
                <c:pt idx="6">
                  <c:v>99.8</c:v>
                </c:pt>
                <c:pt idx="7">
                  <c:v>99.9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Películas</c:v>
                </c:pt>
              </c:strCache>
            </c:strRef>
          </c:tx>
          <c:spPr>
            <a:solidFill>
              <a:srgbClr val="2E4A62"/>
            </a:solidFill>
            <a:ln w="38100" cap="flat">
              <a:solidFill>
                <a:srgbClr val="2E4A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4A62"/>
              </a:solidFill>
              <a:ln w="9525" cap="flat">
                <a:solidFill>
                  <a:srgbClr val="2E4A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71</c:v>
                </c:pt>
                <c:pt idx="2">
                  <c:v>84.3</c:v>
                </c:pt>
                <c:pt idx="3">
                  <c:v>90.3</c:v>
                </c:pt>
                <c:pt idx="4">
                  <c:v>93.8</c:v>
                </c:pt>
                <c:pt idx="5">
                  <c:v>96.2</c:v>
                </c:pt>
                <c:pt idx="6">
                  <c:v>97.8</c:v>
                </c:pt>
                <c:pt idx="7">
                  <c:v>98.9</c:v>
                </c:pt>
                <c:pt idx="8">
                  <c:v>99.7</c:v>
                </c:pt>
                <c:pt idx="9">
                  <c:v>100</c:v>
                </c:pt>
                <c:pt idx="10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Distribución igualitaria</c:v>
                </c:pt>
              </c:strCache>
            </c:strRef>
          </c:tx>
          <c:spPr>
            <a:solidFill>
              <a:srgbClr val="B8BCC2"/>
            </a:solidFill>
            <a:ln w="38100" cap="flat">
              <a:solidFill>
                <a:srgbClr val="B8BC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BCC2"/>
              </a:solidFill>
              <a:ln w="9525" cap="flat">
                <a:solidFill>
                  <a:srgbClr val="B8BC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2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270"/>
                    </a:solidFill>
                    <a:latin typeface="Arial"/>
                  </a:rPr>
                  <a:t>% acumulado de títulos (de más a menos votados)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2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270"/>
                    </a:solidFill>
                    <a:latin typeface="Arial"/>
                  </a:rPr>
                  <a:t>% acumulado de votos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Motor (x1,5 o más)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Talk show x0,06</c:v>
                  </c:pt>
                  <c:pt idx="1">
                    <c:v>Reality x0,1</c:v>
                  </c:pt>
                  <c:pt idx="2">
                    <c:v>Noticias x0,1</c:v>
                  </c:pt>
                  <c:pt idx="3">
                    <c:v>Documental x0,2</c:v>
                  </c:pt>
                  <c:pt idx="4">
                    <c:v>Telenovela x0,4</c:v>
                  </c:pt>
                  <c:pt idx="5">
                    <c:v>Familiar x0,4</c:v>
                  </c:pt>
                  <c:pt idx="6">
                    <c:v>Infantil x0,4</c:v>
                  </c:pt>
                  <c:pt idx="7">
                    <c:v>Comedia x0,7</c:v>
                  </c:pt>
                  <c:pt idx="8">
                    <c:v>Historia/bélico x0,8</c:v>
                  </c:pt>
                  <c:pt idx="9">
                    <c:v>Animación x0,9</c:v>
                  </c:pt>
                  <c:pt idx="10">
                    <c:v>Drama x1,1</c:v>
                  </c:pt>
                  <c:pt idx="11">
                    <c:v>Crimen x1,7</c:v>
                  </c:pt>
                  <c:pt idx="12">
                    <c:v>Misterio x1,8</c:v>
                  </c:pt>
                  <c:pt idx="13">
                    <c:v>Acción/aventura x2,0</c:v>
                  </c:pt>
                  <c:pt idx="14">
                    <c:v>Ciencia ficción x2,5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1.7</c:v>
                </c:pt>
                <c:pt idx="12">
                  <c:v>1.75</c:v>
                </c:pt>
                <c:pt idx="13">
                  <c:v>2</c:v>
                </c:pt>
                <c:pt idx="14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Cercano a proporcional</c:v>
                </c:pt>
              </c:strCache>
            </c:strRef>
          </c:tx>
          <c:spPr>
            <a:solidFill>
              <a:srgbClr val="B8BC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Talk show x0,06</c:v>
                  </c:pt>
                  <c:pt idx="1">
                    <c:v>Reality x0,1</c:v>
                  </c:pt>
                  <c:pt idx="2">
                    <c:v>Noticias x0,1</c:v>
                  </c:pt>
                  <c:pt idx="3">
                    <c:v>Documental x0,2</c:v>
                  </c:pt>
                  <c:pt idx="4">
                    <c:v>Telenovela x0,4</c:v>
                  </c:pt>
                  <c:pt idx="5">
                    <c:v>Familiar x0,4</c:v>
                  </c:pt>
                  <c:pt idx="6">
                    <c:v>Infantil x0,4</c:v>
                  </c:pt>
                  <c:pt idx="7">
                    <c:v>Comedia x0,7</c:v>
                  </c:pt>
                  <c:pt idx="8">
                    <c:v>Historia/bélico x0,8</c:v>
                  </c:pt>
                  <c:pt idx="9">
                    <c:v>Animación x0,9</c:v>
                  </c:pt>
                  <c:pt idx="10">
                    <c:v>Drama x1,1</c:v>
                  </c:pt>
                  <c:pt idx="11">
                    <c:v>Crimen x1,7</c:v>
                  </c:pt>
                  <c:pt idx="12">
                    <c:v>Misterio x1,8</c:v>
                  </c:pt>
                  <c:pt idx="13">
                    <c:v>Acción/aventura x2,0</c:v>
                  </c:pt>
                  <c:pt idx="14">
                    <c:v>Ciencia ficción x2,5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0.7</c:v>
                </c:pt>
                <c:pt idx="8">
                  <c:v>0.8</c:v>
                </c:pt>
                <c:pt idx="9">
                  <c:v>0.95</c:v>
                </c:pt>
                <c:pt idx="10">
                  <c:v>1.1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Baja tracción (x0,4 o menos)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Talk show x0,06</c:v>
                  </c:pt>
                  <c:pt idx="1">
                    <c:v>Reality x0,1</c:v>
                  </c:pt>
                  <c:pt idx="2">
                    <c:v>Noticias x0,1</c:v>
                  </c:pt>
                  <c:pt idx="3">
                    <c:v>Documental x0,2</c:v>
                  </c:pt>
                  <c:pt idx="4">
                    <c:v>Telenovela x0,4</c:v>
                  </c:pt>
                  <c:pt idx="5">
                    <c:v>Familiar x0,4</c:v>
                  </c:pt>
                  <c:pt idx="6">
                    <c:v>Infantil x0,4</c:v>
                  </c:pt>
                  <c:pt idx="7">
                    <c:v>Comedia x0,7</c:v>
                  </c:pt>
                  <c:pt idx="8">
                    <c:v>Historia/bélico x0,8</c:v>
                  </c:pt>
                  <c:pt idx="9">
                    <c:v>Animación x0,9</c:v>
                  </c:pt>
                  <c:pt idx="10">
                    <c:v>Drama x1,1</c:v>
                  </c:pt>
                  <c:pt idx="11">
                    <c:v>Crimen x1,7</c:v>
                  </c:pt>
                  <c:pt idx="12">
                    <c:v>Misterio x1,8</c:v>
                  </c:pt>
                  <c:pt idx="13">
                    <c:v>Acción/aventura x2,0</c:v>
                  </c:pt>
                  <c:pt idx="14">
                    <c:v>Ciencia ficción x2,5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0.06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Japonés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Francés 19%</c:v>
                  </c:pt>
                  <c:pt idx="1">
                    <c:v>Inglés 21%</c:v>
                  </c:pt>
                  <c:pt idx="2">
                    <c:v>Italiano 22%</c:v>
                  </c:pt>
                  <c:pt idx="3">
                    <c:v>Alemán 26%</c:v>
                  </c:pt>
                  <c:pt idx="4">
                    <c:v>Chino 28%</c:v>
                  </c:pt>
                  <c:pt idx="5">
                    <c:v>Hindi 31%</c:v>
                  </c:pt>
                  <c:pt idx="6">
                    <c:v>Español 35%</c:v>
                  </c:pt>
                  <c:pt idx="7">
                    <c:v>Coreano 39%</c:v>
                  </c:pt>
                  <c:pt idx="8">
                    <c:v>Japonés 52%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Inglés (referencia)</c:v>
                </c:pt>
              </c:strCache>
            </c:strRef>
          </c:tx>
          <c:spPr>
            <a:solidFill>
              <a:srgbClr val="2E4A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Francés 19%</c:v>
                  </c:pt>
                  <c:pt idx="1">
                    <c:v>Inglés 21%</c:v>
                  </c:pt>
                  <c:pt idx="2">
                    <c:v>Italiano 22%</c:v>
                  </c:pt>
                  <c:pt idx="3">
                    <c:v>Alemán 26%</c:v>
                  </c:pt>
                  <c:pt idx="4">
                    <c:v>Chino 28%</c:v>
                  </c:pt>
                  <c:pt idx="5">
                    <c:v>Hindi 31%</c:v>
                  </c:pt>
                  <c:pt idx="6">
                    <c:v>Español 35%</c:v>
                  </c:pt>
                  <c:pt idx="7">
                    <c:v>Coreano 39%</c:v>
                  </c:pt>
                  <c:pt idx="8">
                    <c:v>Japonés 52%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Otros</c:v>
                </c:pt>
              </c:strCache>
            </c:strRef>
          </c:tx>
          <c:spPr>
            <a:solidFill>
              <a:srgbClr val="B8BC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Francés 19%</c:v>
                  </c:pt>
                  <c:pt idx="1">
                    <c:v>Inglés 21%</c:v>
                  </c:pt>
                  <c:pt idx="2">
                    <c:v>Italiano 22%</c:v>
                  </c:pt>
                  <c:pt idx="3">
                    <c:v>Alemán 26%</c:v>
                  </c:pt>
                  <c:pt idx="4">
                    <c:v>Chino 28%</c:v>
                  </c:pt>
                  <c:pt idx="5">
                    <c:v>Hindi 31%</c:v>
                  </c:pt>
                  <c:pt idx="6">
                    <c:v>Español 35%</c:v>
                  </c:pt>
                  <c:pt idx="7">
                    <c:v>Coreano 39%</c:v>
                  </c:pt>
                  <c:pt idx="8">
                    <c:v>Japonés 52%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19</c:v>
                </c:pt>
                <c:pt idx="1">
                  <c:v>0</c:v>
                </c:pt>
                <c:pt idx="2">
                  <c:v>22</c:v>
                </c:pt>
                <c:pt idx="3">
                  <c:v>26</c:v>
                </c:pt>
                <c:pt idx="4">
                  <c:v>28</c:v>
                </c:pt>
                <c:pt idx="5">
                  <c:v>31</c:v>
                </c:pt>
                <c:pt idx="6">
                  <c:v>35</c:v>
                </c:pt>
                <c:pt idx="7">
                  <c:v>39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09F3E"/>
            </a:solidFill>
            <a:ln w="38100" cap="flat">
              <a:solidFill>
                <a:srgbClr val="E09F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F3E"/>
              </a:solidFill>
              <a:ln w="9525" cap="flat">
                <a:solidFill>
                  <a:srgbClr val="E09F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 </c:v>
                  </c:pt>
                  <c:pt idx="2">
                    <c:v>2012</c:v>
                  </c:pt>
                  <c:pt idx="3">
                    <c:v> </c:v>
                  </c:pt>
                  <c:pt idx="4">
                    <c:v>2014</c:v>
                  </c:pt>
                  <c:pt idx="5">
                    <c:v> </c:v>
                  </c:pt>
                  <c:pt idx="6">
                    <c:v>2016</c:v>
                  </c:pt>
                  <c:pt idx="7">
                    <c:v> </c:v>
                  </c:pt>
                  <c:pt idx="8">
                    <c:v>2018</c:v>
                  </c:pt>
                  <c:pt idx="9">
                    <c:v> </c:v>
                  </c:pt>
                  <c:pt idx="10">
                    <c:v>2020</c:v>
                  </c:pt>
                  <c:pt idx="11">
                    <c:v>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56.2</c:v>
                </c:pt>
                <c:pt idx="1">
                  <c:v>55.9</c:v>
                </c:pt>
                <c:pt idx="2">
                  <c:v>56.6</c:v>
                </c:pt>
                <c:pt idx="3">
                  <c:v>58.1</c:v>
                </c:pt>
                <c:pt idx="4">
                  <c:v>59.3</c:v>
                </c:pt>
                <c:pt idx="5">
                  <c:v>60.1</c:v>
                </c:pt>
                <c:pt idx="6">
                  <c:v>56.4</c:v>
                </c:pt>
                <c:pt idx="7">
                  <c:v>58.5</c:v>
                </c:pt>
                <c:pt idx="8">
                  <c:v>64.2</c:v>
                </c:pt>
                <c:pt idx="9">
                  <c:v>67.1</c:v>
                </c:pt>
                <c:pt idx="10">
                  <c:v>66.6</c:v>
                </c:pt>
                <c:pt idx="11">
                  <c:v>63.6</c:v>
                </c:pt>
                <c:pt idx="12">
                  <c:v>60.1</c:v>
                </c:pt>
                <c:pt idx="13">
                  <c:v>66.7</c:v>
                </c:pt>
                <c:pt idx="14">
                  <c:v>71.1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Películas</c:v>
                </c:pt>
              </c:strCache>
            </c:strRef>
          </c:tx>
          <c:spPr>
            <a:solidFill>
              <a:srgbClr val="2E4A62"/>
            </a:solidFill>
            <a:ln w="38100" cap="flat">
              <a:solidFill>
                <a:srgbClr val="2E4A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4A62"/>
              </a:solidFill>
              <a:ln w="9525" cap="flat">
                <a:solidFill>
                  <a:srgbClr val="2E4A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 </c:v>
                  </c:pt>
                  <c:pt idx="2">
                    <c:v>2012</c:v>
                  </c:pt>
                  <c:pt idx="3">
                    <c:v> </c:v>
                  </c:pt>
                  <c:pt idx="4">
                    <c:v>2014</c:v>
                  </c:pt>
                  <c:pt idx="5">
                    <c:v> </c:v>
                  </c:pt>
                  <c:pt idx="6">
                    <c:v>2016</c:v>
                  </c:pt>
                  <c:pt idx="7">
                    <c:v> </c:v>
                  </c:pt>
                  <c:pt idx="8">
                    <c:v>2018</c:v>
                  </c:pt>
                  <c:pt idx="9">
                    <c:v> </c:v>
                  </c:pt>
                  <c:pt idx="10">
                    <c:v>2020</c:v>
                  </c:pt>
                  <c:pt idx="11">
                    <c:v>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20.3</c:v>
                </c:pt>
                <c:pt idx="1">
                  <c:v>20.7</c:v>
                </c:pt>
                <c:pt idx="2">
                  <c:v>20.6</c:v>
                </c:pt>
                <c:pt idx="3">
                  <c:v>22.1</c:v>
                </c:pt>
                <c:pt idx="4">
                  <c:v>21.5</c:v>
                </c:pt>
                <c:pt idx="5">
                  <c:v>23.1</c:v>
                </c:pt>
                <c:pt idx="6">
                  <c:v>24.9</c:v>
                </c:pt>
                <c:pt idx="7">
                  <c:v>27</c:v>
                </c:pt>
                <c:pt idx="8">
                  <c:v>27.7</c:v>
                </c:pt>
                <c:pt idx="9">
                  <c:v>31.3</c:v>
                </c:pt>
                <c:pt idx="10">
                  <c:v>30</c:v>
                </c:pt>
                <c:pt idx="11">
                  <c:v>30.8</c:v>
                </c:pt>
                <c:pt idx="12">
                  <c:v>27.5</c:v>
                </c:pt>
                <c:pt idx="13">
                  <c:v>28.3</c:v>
                </c:pt>
                <c:pt idx="14">
                  <c:v>28.4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mediano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 </c:v>
                  </c:pt>
                  <c:pt idx="2">
                    <c:v>2012</c:v>
                  </c:pt>
                  <c:pt idx="3">
                    <c:v> </c:v>
                  </c:pt>
                  <c:pt idx="4">
                    <c:v>2014</c:v>
                  </c:pt>
                  <c:pt idx="5">
                    <c:v> </c:v>
                  </c:pt>
                  <c:pt idx="6">
                    <c:v>2016</c:v>
                  </c:pt>
                  <c:pt idx="7">
                    <c:v> </c:v>
                  </c:pt>
                  <c:pt idx="8">
                    <c:v>2018</c:v>
                  </c:pt>
                  <c:pt idx="9">
                    <c:v> </c:v>
                  </c:pt>
                  <c:pt idx="10">
                    <c:v>2020</c:v>
                  </c:pt>
                  <c:pt idx="11">
                    <c:v>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70</c:v>
                </c:pt>
                <c:pt idx="1">
                  <c:v>108</c:v>
                </c:pt>
                <c:pt idx="2">
                  <c:v>86</c:v>
                </c:pt>
                <c:pt idx="3">
                  <c:v>118</c:v>
                </c:pt>
                <c:pt idx="4">
                  <c:v>111</c:v>
                </c:pt>
                <c:pt idx="5">
                  <c:v>113</c:v>
                </c:pt>
                <c:pt idx="6">
                  <c:v>93</c:v>
                </c:pt>
                <c:pt idx="7">
                  <c:v>110</c:v>
                </c:pt>
                <c:pt idx="8">
                  <c:v>95</c:v>
                </c:pt>
                <c:pt idx="9">
                  <c:v>102</c:v>
                </c:pt>
                <c:pt idx="10">
                  <c:v>-17</c:v>
                </c:pt>
                <c:pt idx="11">
                  <c:v>0</c:v>
                </c:pt>
                <c:pt idx="12">
                  <c:v>24</c:v>
                </c:pt>
                <c:pt idx="13">
                  <c:v>26</c:v>
                </c:pt>
                <c:pt idx="14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120"/>
          <c:min val="-4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[Claudio - 15 s] Buenos días. Somos el equipo consultor contratado por StreamView Analytics. En 10 minutos mostraremos qué contenido genera interacción, cuál valoran los usuarios, qué parte del catálogo no se descubre y qué decisiones proponemos. Yo presento el problema, la estrategia, la metodología y los datos; Guillermo, los hallazgos y por qué elegimos cada gráfico; Manuel, la solución y las recomendaciones.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[Claudio - 45 s] StreamView es un negocio de suscripción: gana cuando el usuario encuentra algo que ver y se queda. Hoy no hay una vista integrada que conecte oferta, interacción y satisfacción. Nuestra audiencia principal es el directorio y la gerencia general, que decide con poco tiempo y sin perfil técnico. Las gerencias de contenidos y de producto necesitan explorar el detalle, y el equipo de analítica, reproducirlo. Por eso el propósito es doble: persuadir para aprobar tres decisiones y habilitar a cada gerencia para responder sus propias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[Claudio - 40 s] La estrategia sale de la audiencia. Como la gerencia decide con poco tiempo, usamos pirámide invertida: la conclusión y la decisión llegan primero. Todo se ordena en torno a una idea central y a un arco de tres actos: contexto, conflicto y resolución. Cada gráfico lleva un título que dice el hallazgo, así nadie tiene que deducirlo. Hicimos dos productos porque las audiencias necesitan cosas distintas: esta presentación para decidir y un dashboard para explorar. Descartamos contar el análisis en orden cronológico, porque la conclusión quedaría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[Claudio - 40 s] Trabajamos con CRISP-DM porque parte del negocio y no de los datos. Primero definimos el problema, las preguntas y las audiencias. Luego entendimos y preparamos los datos, construimos los indicadores, que en este caso son descriptivos y no predictivos, evaluamos verificando todas las cifras y, al final, desplegamos el dashboard, el informe y esta presentación. No fue lineal: por ejemplo, cuando vimos que los votos venían de TMDB y no de nuestros suscriptores, volvimos a la fase de negocio para redefinir cómo mediríamos las metas.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[Claudio - 40 s] Usamos dos fuentes: películas y series, 16 mil registros cada una, de 2010 a 2025. Las integramos en un catálogo de 31.991 títulos: unificamos 21 géneros, tratamos las notas cero sin votos como 'sin evaluar' y creamos una calificación ponderada, para que un título con dos votos y nota 10 no le gane a uno con 20 mil votos y nota 8,5. Los votos vienen de TMDB, no de nuestros suscriptores, así que los usamos como aproximación del engagement. Le paso la palabra a Guillermo.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[Guillermo - 40 s] Primer hallazgo: la interacción está extremadamente concentrada. Este gráfico ordena los títulos de más a menos votados; si todos recibieran lo mismo, la curva sería la diagonal gris. En series, el 10% de los títulos se lleva el 86% de los votos y en películas el 71%. Y lo más preocupante, en rojo: 6 de cada 10 series tienen menos de 10 votos. Para el usuario, ese contenido prácticamente no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[Guillermo - 40 s] Segundo hallazgo: la oferta no está alineada con lo que genera interacción. Creamos el índice de tracción: el porcentaje de votos de un género dividido por su porcentaje de asignaciones de género (cada título aporta a todos sus géneros). Si vale 1, el género rinde lo que pesa. Ciencia ficción y fantasía rinde 2,5 veces su peso; acción, misterio y crimen también superan 1,5. En cambio reality, talk show y noticias ocupan el 8% de las asignaciones de género y generan el 0,7% de la interacción; dicho en títulos, el 14% de las series lleva alguno de esos géneros y recibe solo el 1,6% de los votos. En películas el patrón es el mismo. Ojo: reality y talk show pueden verse sin que nadie los califique en TMDB, por eso proponemos confirmarlo con reproducciones antes de desinvertir.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[Guillermo - 40 s] Tercer hallazgo. Cruzamos calidad, eje vertical, con interacción, eje horizontal; cada burbuja es un género de películas y su tamaño es la cantidad de títulos. Arriba a la derecha están los motores. Arriba a la izquierda, en azul petróleo, las joyas ocultas: documental, música e historia. El 54% de los documentales tiene nota 7 o más, el doble que el promedio de películas, pero casi no reciben votos. Además, popularidad y calificación se relacionan débilmente: si recomendamos solo por popularidad, reforzamos la concentración y escondemos la calidad.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[Guillermo - 30 s] Cuarto hallazgo: el idioma. El inglés concentra el 88% de los votos de películas, pero no es donde está la mejor calidad percibida: el 52% de las películas japonesas tiene nota 7 o más, contra 21% en inglés. En películas, coreano y español también superan al inglés. En series, el 72% de las japonesas está bien evaluado, aunque ahí el orden depende del mínimo de votos. La oportunidad robusta es el anime.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[Guillermo - 30 s] En el tiempo, la proporción de títulos bien evaluados tiende a subir, con retrocesos: películas de 20% a 28% y series de 56% a 71%. Parte puede ser sesgo de antigüedad, porque los títulos recientes tienen menos votos; aun así, la calidad no es el problema. En rojo, la alerta: la rentabilidad de las películas cayó a -17% en 2020 y en 2024 va en 61%, bajo el 100% previo.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[Guillermo - 40 s] ¿Por qué estos gráficos? Cada uno responde a una tarea. Para concentración, la curva de Lorenz, que es el estándar; con 16 mil títulos, un Pareto sería ilegible. Para comparar géneros e idiomas, barras ordenadas, porque la longitud se compara con precisión; descartamos tortas. Para cruzar calidad e interacción, burbujas por cuadrantes en escala log. Y para el tiempo, líneas. El color tiene un solo significado: petróleo es oportunidad, rojo es alerta y el gris es contexto; evitamos verde y rojo por el daltonismo. Le paso la palabra a Manuel.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- 20 s] Si juntamos todo: la interacción se concentra, la oferta no está alineada con lo que el usuario busca y el contenido que más se valora está escondido. Nuestra conclusión es simple: StreamView no necesita más títulos, necesita que los títulos correctos sean descubiertos.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- 60 s] Para que estas preguntas no dependan de un informe, construimos un dashboard en Streamlit con Plotly. Uno: seis KPIs que muestran cuánto se aleja la selección del catálogo completo. Dos: seis páginas navegables desde la barra lateral. Tres: filtros globales por tipo, años, género, idioma y votos mínimos. Cuatro: gráficos interactivos; por ejemplo, en la matriz de géneros se puede seleccionar una burbuja y ver sus títulos mejor evaluados, y en el explorador se activa 'solo joyas ocultas' para obtener la lista que producto podría usar en una fila de recomendación. [Si hay tiempo y el equipo lo permite, mostrar en vivo; si no, explicar sobre la captura.] Los colores son los mismos del informe: azul películas, ámbar series, petróleo oportunidad y rojo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- 50 s] Tres decisiones, cada una con su evidencia. Primera, para producto: filas de joyas ocultas y un ranking que combine popularidad y calidad, porque la interacción se concentra y hay contenido valorado que no se ve. La meta se medirá con reproducciones propias; hoy el proxy es que el 62% de las series tiene menos de 10 votos. Segunda, para contenidos: priorizar los géneros de alta tracción y ampliar el anime. Tercera, para analítica: medir reproducción, abandono y suscripción, porque hoy dependemos de votos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- 35 s] Evaluamos críticamente la solución. Fortalezas: todos los productos usan el mismo código, verificamos automáticamente las 76 cifras del informe y el proyecto se reproduce completo. Limitación principal: los votos vienen de TMDB y no de nuestros suscriptores, y la muestra es de mil títulos por año. Como mejora, integrar datos de uso, publicar el dashboard y validarlo con cada gerencia.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[Manuel - 15 s] Cerramos con tres ideas: la interacción está concentrada, la oferta no está alineada y la calidad está escondida. Por eso proponemos hacer visible el valor que ya existe y medir si eso mejora la retención. Muchas gracias;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9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ADY1104 VISUALIZACIÓN DE DATOS  |  EVALUACIÓN PARCIAL N°2  |  PRESENTACIÓN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catálogo al descubrimiento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contenido genera interacción en StreamView y cuál el usuario no alcanza a ver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3A42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Aro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3520440"/>
            <a:ext cx="502920" cy="502920"/>
          </a:xfrm>
          <a:prstGeom prst="ellipse">
            <a:avLst/>
          </a:prstGeom>
          <a:solidFill>
            <a:srgbClr val="3A42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3520440"/>
            <a:ext cx="502920" cy="502920"/>
          </a:xfrm>
          <a:prstGeom prst="ellipse">
            <a:avLst/>
          </a:prstGeom>
          <a:solidFill>
            <a:srgbClr val="3A42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Díaz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Claudio Andrés Gonzalez Peñaloza  |  Duoc UC, sede Puerto Montt  | 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gran catálogo no retiene si el usuario no lo descubre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negocio, audiencia y propósito de la solución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Aro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StreamView vive de suscripciones: su valor depende del engagement y la retención.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una vista integrada que diga qué contenido genera interacción, cuál satisface y cuál no se descubre.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Propósito: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persuadir a la gerencia para decidir sobre descubrimiento, adquisición y datos, y habilitar la exploración autónoma.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quién es la solución?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29184" cy="329184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y gerencia general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 y qué decidir: presentación e informe.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542032"/>
            <a:ext cx="329184" cy="329184"/>
          </a:xfrm>
          <a:prstGeom prst="ellipse">
            <a:avLst/>
          </a:prstGeom>
          <a:solidFill>
            <a:srgbClr val="5B62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y adquisiciones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770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géneros e idiomas priorizar: dashboard.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55264"/>
            <a:ext cx="329184" cy="329184"/>
          </a:xfrm>
          <a:prstGeom prst="ellipse">
            <a:avLst/>
          </a:prstGeom>
          <a:solidFill>
            <a:srgbClr val="5B62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y experiencia de usuario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483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contenido no se descubre: dashboard.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968496"/>
            <a:ext cx="329184" cy="329184"/>
          </a:xfrm>
          <a:prstGeom prst="ellipse">
            <a:avLst/>
          </a:prstGeom>
          <a:solidFill>
            <a:srgbClr val="5B62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analítica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Reproducir y extender: notebooks y código.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480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audiencia primaria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Elegimos la estrategia según quién decide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comunicación: qué hicimos y por qué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Aro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Pirámide invertida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55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y decisión en el primer minuto: la gerencia tiene poco tiempo.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central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755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memorable que ordena todos los gráficos.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9632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Arco en tres actos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1755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conflicto y resolución: la tensión lleva a la decisión.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Títulos-mensaje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898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título dice el hallazgo; el gráfico lo demuestra.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10712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productos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10712" y="2898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 informe para decidir; dashboard para explorar.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9632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negocio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99632" y="28986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"Tracción" y "joyas ocultas" en vez de jerga estadística.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Descartamos: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relato cronológico del análisis (entierra la conclusión), un único dashboard para todos (sobrecarga a quien decide) y la jerga estadística en el mensaje (aleja a la audiencia primaria).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Seguimos CRISP-DM: del negocio al despliegue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del proyecto: seis fases iterativas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Aro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43584" cy="22402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08760"/>
            <a:ext cx="420624" cy="420624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106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8 preguntas y 4 audiencias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14500" y="2395728"/>
            <a:ext cx="128016" cy="201168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4403" y="1371600"/>
            <a:ext cx="1243584" cy="22402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5883" y="1508760"/>
            <a:ext cx="420624" cy="420624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65883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27555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45843" y="2377440"/>
            <a:ext cx="106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fuentes, 32.000 registros; calidad y origen TMDB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11703" y="2395728"/>
            <a:ext cx="128016" cy="201168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51606" y="1371600"/>
            <a:ext cx="1243584" cy="22402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63086" y="1508760"/>
            <a:ext cx="420624" cy="420624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63086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24758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43046" y="2377440"/>
            <a:ext cx="106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Limpieza, 21 géneros, 31.991 títulos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08906" y="2395728"/>
            <a:ext cx="128016" cy="201168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8810" y="1371600"/>
            <a:ext cx="1243584" cy="22402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60290" y="1508760"/>
            <a:ext cx="420624" cy="420624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6029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721962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40250" y="2377440"/>
            <a:ext cx="106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 ponderada, tracción, Lorenz (descriptivo)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06110" y="2395728"/>
            <a:ext cx="128016" cy="201168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6013" y="1371600"/>
            <a:ext cx="1243584" cy="2240280"/>
          </a:xfrm>
          <a:prstGeom prst="roundRect">
            <a:avLst>
              <a:gd name="adj" fmla="val 5882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7493" y="1508760"/>
            <a:ext cx="420624" cy="420624"/>
          </a:xfrm>
          <a:prstGeom prst="ellipse">
            <a:avLst/>
          </a:prstGeom>
          <a:solidFill>
            <a:srgbClr val="0F7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57493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19165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137453" y="2377440"/>
            <a:ext cx="106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cifras verificadas y pruebas de robustez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03313" y="2395728"/>
            <a:ext cx="128016" cy="201168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43216" y="1371600"/>
            <a:ext cx="1243584" cy="2240280"/>
          </a:xfrm>
          <a:prstGeom prst="roundRect">
            <a:avLst>
              <a:gd name="adj" fmla="val 5882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54696" y="1508760"/>
            <a:ext cx="420624" cy="420624"/>
          </a:xfrm>
          <a:prstGeom prst="ellipse">
            <a:avLst/>
          </a:prstGeom>
          <a:solidFill>
            <a:srgbClr val="0F7C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54696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516368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534656" y="2377440"/>
            <a:ext cx="1060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informe, presentación y proyecto reproducible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Iteramos: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0 sin votos, volvimos a preparar; promedios engañosos, volvimos a modelar; votos de TMDB y no de suscriptores, volvimos al negocio para redefinir las metas.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Integramos dos fuentes en un catálogo comparable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e integración de las fuentes de datos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Aro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Películas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16.000 registros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644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16.000 registros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variables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2286000"/>
            <a:ext cx="411480" cy="365760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417320"/>
            <a:ext cx="301752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e integración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19202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géneros unificados en español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0 sin votos = sin evaluar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 ponderada (bayesiana)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Duplicados y columnas vacías fuera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al teclado latinoamericano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53328" y="2286000"/>
            <a:ext cx="411480" cy="365760"/>
          </a:xfrm>
          <a:prstGeom prst="rightArrow">
            <a:avLst/>
          </a:prstGeom>
          <a:solidFill>
            <a:srgbClr val="B8BCC2"/>
          </a:solidFill>
          <a:ln w="12700">
            <a:solidFill>
              <a:srgbClr val="B8BC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31.991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7190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integrados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 M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359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votos (interacción)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2010-2025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639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estreno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clave: 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votos = interacción | calificación ponderada = satisfacción | popularidad = atención | presupuesto y recaudación = rentabilidad. </a:t>
            </a:r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datos individuales de reproducción ni suscripción.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10% de los títulos concentra casi toda la interacción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concentración de votos por título (Lorenz)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3258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09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votos de series está en el 10% de títulos más votados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4048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4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953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votos de películas está en el 10% de títulos más votados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4838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40325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series tiene menos de 10 votos: son prácticamente invisibles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Gráfico: </a:t>
            </a:r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Lorenz; la distancia a la diagonal mide la concentración.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Invertimos en géneros que no generan interacción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Series: índice de tracción = % de votos / % de asignaciones del género (x1 = proporcional)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159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petróleo: motor   </a:t>
            </a:r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Gris: proporcional   </a:t>
            </a:r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Rojo: baja tracción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13258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x2,5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ficción y fantasía: 6,7% de las asignaciones de género, 16,5% de los votos.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9260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x0,1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Reality, talk show y noticias: 8% de las asignaciones de género, 0,7% de los votos.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Gráfico: </a:t>
            </a:r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horizontales ordenadas; color solo en los extremos.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tenemos contenido valorado que nadie está viendo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Películas: calidad vs interacción por género. Tamaño = cantidad de títulos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100" dirty="0"/>
          </a:p>
        </p:txBody>
      </p:sp>
      <p:pic>
        <p:nvPicPr>
          <p:cNvPr id="5" name="Image 0" descr="C:\Users\molte\Downloads\visualiz\StreamView_EP1_VisualizacionDatos\images\fig02b_matriz_peliculas_present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411479" cy="3310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32588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Joyas ocultas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82880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Documental, música e historia: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evaluados y poco descubiertos.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documentales tiene nota 7 o más (26% del total).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contenido ya pagado: exponerlo es la mejora más barata.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Gráfico: </a:t>
            </a:r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burbujas por cuadrantes; cada cuadrante es una acción.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japonés es el mejor evaluado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Películas: % de títulos con calificación 7 o más, por idioma original (200+ títulos evaluados)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325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vs 21%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películas bien evaluadas: japonés vs inglés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4048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series japonesas tiene nota 7 o más (inglés: 60%)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483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4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4005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votos de películas es para contenido en inglés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Gráfico: </a:t>
            </a:r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ordenadas; petróleo = mejor resultado, azul = referencia (inglés).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al alza; la rentabilidad no se recupera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por año de estreno, 2010-2024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títulos con calificación 7 o más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5448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mediano de películas (%)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55448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92240" y="3675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2020: -17%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1330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no es el problema: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películas de 20% a 28% y series de 56% a 71% bien evaluadas. </a:t>
            </a:r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Popularidad y calificación apenas se relacionan (0,23 y 0,17).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gráfico se eligió por la tarea que resuelve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técnica de las representaciones y atributos visuales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Guillermo Cerda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10515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Gráfico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Curva de Lorenz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Pareto de 16.000 barras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Oferta vs. interacción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Barras ordenadas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Torta: ángulos imprecisos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 vs. interacción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Burbujas por cuadrantes (log)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Posición + tamaño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Tabla: exige comparar números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 de idiomas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Barras horizontales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Mapa: el idioma no es geográfico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Evolución 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temporal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Barras por año: fragmentan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3258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444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aplicados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810512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color, un significado: petróleo = oportunidad, rojo = alerta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para el contexto: el ojo va primero al dato destacado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par verde-rojo (daltonismo)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directas y texto de 11 pt o más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log: la tracción va de 0,06 a 2,5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y longitud son los atributos que el ojo compara con más precisión (Cleveland y McGill, 1984); el color se reserva para el énfasis.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CENTRAL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StreamView no necesita más títulos: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que los títulos correctos sean descubiertos.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(86%)  +  oferta desalineada (x0,1)  +  calidad escondida (joyas ocultas)  =  valor que no llega al usuario y riesgo para la retención.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Díaz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para que cada gerencia explore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Plotly: 6 páginas, 6 KPIs, 5 filtros globales y exploración a nivel de título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Díaz</a:t>
            </a:r>
            <a:endParaRPr lang="en-US" sz="1100" dirty="0"/>
          </a:p>
        </p:txBody>
      </p:sp>
      <p:pic>
        <p:nvPicPr>
          <p:cNvPr id="5" name="Image 0" descr="C:\Users\molte\Downloads\visualiz\StreamView_EP1_VisualizacionDatos\images\dash_present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897880" cy="33814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234440"/>
            <a:ext cx="5897880" cy="3381451"/>
          </a:xfrm>
          <a:prstGeom prst="rect">
            <a:avLst/>
          </a:prstGeom>
          <a:ln w="9525">
            <a:solidFill>
              <a:srgbClr val="B8BC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96314" y="1755282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96314" y="17552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242441" y="2059613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42441" y="20596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242441" y="3446008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42441" y="3446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2566831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49040" y="25668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1280160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1261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con comparación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784848" y="1527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de la selección contra el catálogo completo.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2103120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84848" y="2084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2350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páginas: resumen, géneros, idiomas, tendencias, explorador, metodología.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2926080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784848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globales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3172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Tipo, años, género, idioma y votos mínimos; botón para restablecer.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3749040"/>
            <a:ext cx="310896" cy="310896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3730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interactivos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784848" y="3995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Tooltips, selección por clic o lazo, búsqueda y descarga CSV.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Gráfico: </a:t>
            </a:r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la página 1 del dashboard (la demo en vivo es opcional).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decisiones, con metas medibles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recomendación se apoya en un hallazgo del análisis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Díaz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 las joyas ocultas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/ UX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de "joyas ocultas" y cuota de exposición para títulos bien evaluados con pocos votos.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Evidencia: diap. 6 y 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703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el % de catálogo sin reproducciones (proxy hoy: 62% de series con &lt;10 votos)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325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481328"/>
            <a:ext cx="411480" cy="411480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59352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Reorientar la adquisición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057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ciencia ficción, acción, misterio y crimen; revisar reality y talk show; ampliar anime.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Evidencia: diap. 7 y 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657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02152" y="3703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con reproducciones de nuevas adquisiciones &gt;= x1,0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325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481328"/>
            <a:ext cx="411480" cy="411480"/>
          </a:xfrm>
          <a:prstGeom prst="ellipse">
            <a:avLst/>
          </a:prstGeom>
          <a:solidFill>
            <a:srgbClr val="1F24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el comportamiento real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057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/ TI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331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reproducciones, abandono, suscripciones y dispositivos al dashboard.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Evidencia: limitación, diap. 15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657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91072" y="3703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retención en 6 meses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catálogo StreamView 2010-2025 (31.991 títulos). Elaboración propia.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crítica de nuestra solución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Fortalezas, limitaciones y oportunidades de mejora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91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Díaz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cálculos en informe, figuras y dashboard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cifras verificadas automáticamente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Películas y series comparables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reproducible (CRISP-DM)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Votos de TMDB, no de suscriptores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de 1.000 títulos por año y tipo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de 2025 con pocos votos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financieros en 21% de películas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datos de uso y suscripción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con actualización automática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usabilidad por gerencia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impacto con pruebas A/B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9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interacción se concentra en el 10% de los títulos y 6 de cada 10 series no se descubren.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oferta no está alineada con lo que genera interacción, y el contenido mejor valorado está escondido.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 inversión inmediata es hacer visible el valor que ya tenemos, y medir si retiene.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¿Preguntas?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Aro  |  Guillermo Cerda  |  Manuel Díaz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StreamView Analytics - Presentación ejecutiva EP2</dc:title>
  <dc:subject>PptxGenJS Presentation</dc:subject>
  <dc:creator>Claudio Aro, Guillermo Cerda, Manuel Díaz</dc:creator>
  <cp:lastModifiedBy>Claudio Aro, Guillermo Cerda, Manuel Díaz</cp:lastModifiedBy>
  <cp:revision>1</cp:revision>
  <dcterms:created xsi:type="dcterms:W3CDTF">2026-09-24T01:30:07Z</dcterms:created>
  <dcterms:modified xsi:type="dcterms:W3CDTF">2026-09-24T01:30:07Z</dcterms:modified>
</cp:coreProperties>
</file>